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6D133-44C6-BA78-D8BF-4F5BCA757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1E0F1-82A8-E7D5-4510-FB1D8770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0297C-613D-E178-7D18-219B89D5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77B90-3EA7-A044-26CA-5128D500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5EE46-99D9-00BA-00EE-0EC8FDB6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9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F38D-0B39-BD45-F680-EA0D8BF0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17CC2-A9E2-F91E-353E-798DFA2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81170-4AE6-8E6F-DCE4-FBAAB4CB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20DD-E151-4863-0F7F-CE5EEC35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ADAAC-4198-9FFA-F521-BF444ABC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51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3FE-46B5-FDF7-3C17-9F702CC3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BA8F5-CB79-EB6F-3BE3-E11E64E17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40A79-2EF3-34A5-B711-389E970C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17A5C-A91B-2AAF-8A93-9DB97355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7DCBC-A41E-728A-476C-538A5F5D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45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0D11-9048-EFB4-6C5C-448EB61A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41A11-2B29-445D-5A58-7D97F0B27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64E14-D538-30BC-A22A-EE4F751AC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D3AA1-9CA1-300A-8A67-D4CD1D1D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F0098-5194-B3E6-9249-CC694BB6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2A768-42A2-F27E-31A8-E57D2004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3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A45E-A1E8-3C38-6D3F-75342984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48E96-A6EA-E1A4-0705-4BA73951C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1A2B6-B063-09CE-BADB-9F3303931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B292F-1E19-3433-3AE9-A2541127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F7BDD-29C4-5E8B-7D8C-B85EE556E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E8A8E-2FE9-0C28-E55D-9664067B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1AF1F-0B8E-DB59-4143-F5C0BE38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E7745-3683-5DDB-908F-F5002E12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2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2593-8789-85DB-860C-7565200C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228EC-65C4-931E-A6AE-9151395D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7265F-1AD0-68A6-33E3-7DFF57AD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32E1E-2679-43BD-3D89-F2A8631D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82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4765E-79EC-8137-1510-F90E54A0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2386D-D13A-B016-D27C-B698E569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B3650-C86E-71CE-E4E5-8C233CAF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27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9AD0-9124-74BF-059D-7D2AC931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68D35-BF97-5A3C-6FB5-C6C2BE7B9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6EEF1-4F4E-7FF6-8A48-E463050D9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BAFAC-F221-BDD3-309A-46235089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9F379-32DC-987C-F475-45E39E1C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15239-55E7-5353-9E88-EED64CF4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0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A77A-9C42-6FE1-20D3-3313066C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C5857-F4A6-B204-8915-446DD05BC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96584-8D25-FE6D-09D7-C2F116669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9975B-D8CA-F8E4-6009-3A95AC46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766A5-FE66-70FB-C706-9BDE5DC2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0BA1C-4C6F-86B1-8386-592A0DCB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10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D534-B4F1-AA2F-28A6-9C4BD39F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C8376-1D91-108D-369B-B903BF915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9A9C-2AED-01D8-FF87-1C455690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1B4CE-5839-3367-BA98-6058E3B25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55E05-B22C-AE22-B3D1-C366CBF2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7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3E77B-BB82-B8B3-B353-430B0C787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562C7-A6AA-F95B-D1A4-93FD10ACD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74149-ED44-2EC0-B76E-20F07F83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1FBC-8930-F7E8-7126-F4E1B801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C2CE2-8341-827B-36B4-44039AF6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6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2FD88-A1EE-F1F5-1BBF-C5CD721E4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6B58C-72D8-64A5-906F-413F46C8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C51A3-D545-1E1F-A45D-CBB47A5C2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9D14D-2EB2-44C9-BF27-D927FB21BEAA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B5F63-0E06-4B50-6C4B-FB330E428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6658D-8A77-865B-ADC0-A5BC9F441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9EA52-D77D-44C4-9E1C-9E4213B98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42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3DEC-D0A3-48FB-825F-0613A583AA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“Actionable Gamification”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5C938-0D66-1489-EB00-7B91AD69A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</a:t>
            </a:r>
            <a:r>
              <a:rPr lang="en-IN" b="1" dirty="0"/>
              <a:t>Veerendranadh Koppula</a:t>
            </a:r>
          </a:p>
        </p:txBody>
      </p:sp>
    </p:spTree>
    <p:extLst>
      <p:ext uri="{BB962C8B-B14F-4D97-AF65-F5344CB8AC3E}">
        <p14:creationId xmlns:p14="http://schemas.microsoft.com/office/powerpoint/2010/main" val="333310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3203-F168-245D-0C2F-948FED80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127" y="4950980"/>
            <a:ext cx="10515600" cy="1325563"/>
          </a:xfrm>
        </p:spPr>
        <p:txBody>
          <a:bodyPr/>
          <a:lstStyle/>
          <a:p>
            <a:r>
              <a:rPr lang="en-US" dirty="0"/>
              <a:t>"Turning boring tasks into fun, engaging experiences by using game techniques."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117871-4BBE-FE22-1852-C86A90687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871" y="121516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05761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083D-1063-81A8-A5DA-21BE8847F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8" y="584560"/>
            <a:ext cx="10515600" cy="1325563"/>
          </a:xfrm>
        </p:spPr>
        <p:txBody>
          <a:bodyPr/>
          <a:lstStyle/>
          <a:p>
            <a:r>
              <a:rPr lang="en-US" dirty="0"/>
              <a:t>"PBL is like sugar coating , it looks fun but doesn’t build lasting habits."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A6367-50B2-CE2C-6F7B-DAA305F98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391" y="2191182"/>
            <a:ext cx="5795727" cy="4351338"/>
          </a:xfrm>
        </p:spPr>
      </p:pic>
    </p:spTree>
    <p:extLst>
      <p:ext uri="{BB962C8B-B14F-4D97-AF65-F5344CB8AC3E}">
        <p14:creationId xmlns:p14="http://schemas.microsoft.com/office/powerpoint/2010/main" val="202101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72EE-5908-FDA0-6BF9-B7BA5377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</a:t>
            </a:r>
            <a:r>
              <a:rPr lang="en-US" b="1" i="1" dirty="0"/>
              <a:t>When the Surreal Blends into our World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34E23-C52E-E9A0-A150-AA55C7657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 can feel empty without motivation and purpose.</a:t>
            </a:r>
          </a:p>
          <a:p>
            <a:r>
              <a:rPr lang="en-US" dirty="0"/>
              <a:t>Games keep us engaged by giving us clear goals and feedback.</a:t>
            </a:r>
          </a:p>
          <a:p>
            <a:r>
              <a:rPr lang="en-US" dirty="0"/>
              <a:t>Real life can be gamified to feel more meaningful and exciting.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C0F69-1E80-8F78-4C4A-FD2F93F5D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29000"/>
            <a:ext cx="7781731" cy="332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0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9531-4D27-07C6-887F-14A6C4461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137" y="468609"/>
            <a:ext cx="10515600" cy="1325563"/>
          </a:xfrm>
        </p:spPr>
        <p:txBody>
          <a:bodyPr/>
          <a:lstStyle/>
          <a:p>
            <a:r>
              <a:rPr lang="en-US" dirty="0"/>
              <a:t>   Chapter 2: </a:t>
            </a:r>
            <a:r>
              <a:rPr lang="en-US" b="1" i="1" dirty="0"/>
              <a:t>The PBL Fallacy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BFACEB-A45D-035A-4114-06E514FB6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0755" y="1794172"/>
            <a:ext cx="76129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Points, Badges, and Leaderboards alone do not create deep motivation.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on human emotions and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Surface-level rewards are not enough for lasting behavior change.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608B4-B234-B276-ABCF-72DB3F6E5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6" y="3119735"/>
            <a:ext cx="6264209" cy="355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5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E69B-52DA-EDE8-70D4-823B9E9E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09424"/>
            <a:ext cx="10515600" cy="1325563"/>
          </a:xfrm>
        </p:spPr>
        <p:txBody>
          <a:bodyPr/>
          <a:lstStyle/>
          <a:p>
            <a:r>
              <a:rPr lang="en-US" dirty="0"/>
              <a:t>Chapter 3: </a:t>
            </a:r>
            <a:r>
              <a:rPr lang="en-US" b="1" i="1" dirty="0"/>
              <a:t>The Octalysis Framework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7D61EB-864C-0ACD-46FD-1948D46F9A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78" y="1405352"/>
            <a:ext cx="872084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motivation is driven by 8 Core Drives.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complete experience needs a mix of all drives.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framework helps design meaningful and fun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36AD0-0E10-7720-7BA6-13D455B9C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489" y="3026131"/>
            <a:ext cx="5642947" cy="37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4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CD0A-E9E4-5397-89E2-0DC5D664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21" y="368800"/>
            <a:ext cx="10515600" cy="1325563"/>
          </a:xfrm>
        </p:spPr>
        <p:txBody>
          <a:bodyPr/>
          <a:lstStyle/>
          <a:p>
            <a:r>
              <a:rPr lang="en-US" dirty="0"/>
              <a:t>Chapter 4: </a:t>
            </a:r>
            <a:r>
              <a:rPr lang="en-US" b="1" i="1" dirty="0"/>
              <a:t>Putting Gamification in its Place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B81437-6DB9-83B0-75BA-577FB8588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1465" y="1694363"/>
            <a:ext cx="849424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Gamification works only when used in the right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should support a purpose, not distract from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 value should come before gamified layers.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A3E60-7E88-8501-FBBA-8107E91FE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212" y="3428999"/>
            <a:ext cx="4356509" cy="226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9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5181-D589-7886-7EA4-AECED1E2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49"/>
            <a:ext cx="10515600" cy="1325563"/>
          </a:xfrm>
        </p:spPr>
        <p:txBody>
          <a:bodyPr/>
          <a:lstStyle/>
          <a:p>
            <a:r>
              <a:rPr lang="en-US" dirty="0"/>
              <a:t>Chapter 5: </a:t>
            </a:r>
            <a:r>
              <a:rPr lang="en-US" b="1" i="1" dirty="0"/>
              <a:t>Epic Meaning &amp; Calling</a:t>
            </a:r>
            <a:r>
              <a:rPr lang="en-US" b="1" dirty="0"/>
              <a:t> (Core Drive 1)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65B365-CB27-38DE-0364-1F9476361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836" y="1783712"/>
            <a:ext cx="827572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People are driven by a sense of purpose or mission.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Feeling part of something bigger increases motivation.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drive works well in early engagement.</a:t>
            </a:r>
          </a:p>
        </p:txBody>
      </p:sp>
    </p:spTree>
    <p:extLst>
      <p:ext uri="{BB962C8B-B14F-4D97-AF65-F5344CB8AC3E}">
        <p14:creationId xmlns:p14="http://schemas.microsoft.com/office/powerpoint/2010/main" val="405039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9616-F920-702A-8798-F05AE458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434"/>
            <a:ext cx="10515600" cy="1325563"/>
          </a:xfrm>
        </p:spPr>
        <p:txBody>
          <a:bodyPr/>
          <a:lstStyle/>
          <a:p>
            <a:r>
              <a:rPr lang="en-US" dirty="0"/>
              <a:t>Chapter 6: </a:t>
            </a:r>
            <a:r>
              <a:rPr lang="en-US" b="1" i="1" dirty="0"/>
              <a:t>Development &amp; Accomplishment</a:t>
            </a:r>
            <a:r>
              <a:rPr lang="en-US" b="1" dirty="0"/>
              <a:t> (Core Drive 2)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A69C30-D01C-7EAB-717D-808E0267F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788690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Progress and achievement are powerful motivators.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goals and feedback improve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feel pride in completing challenges.</a:t>
            </a:r>
          </a:p>
        </p:txBody>
      </p:sp>
    </p:spTree>
    <p:extLst>
      <p:ext uri="{BB962C8B-B14F-4D97-AF65-F5344CB8AC3E}">
        <p14:creationId xmlns:p14="http://schemas.microsoft.com/office/powerpoint/2010/main" val="223082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99FF-6AFD-6BA3-1471-85944F25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7</a:t>
            </a:r>
            <a:r>
              <a:rPr lang="en-US" b="1" dirty="0"/>
              <a:t>: </a:t>
            </a:r>
            <a:r>
              <a:rPr lang="en-US" b="1" i="1" dirty="0"/>
              <a:t>Empowerment of Creativity &amp; Feedback</a:t>
            </a:r>
            <a:r>
              <a:rPr lang="en-US" b="1" dirty="0"/>
              <a:t> (Core Drive 3)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999D-A099-E14A-9C7F-F18C8BCED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Freedom to choose and create increases engagement.</a:t>
            </a:r>
          </a:p>
          <a:p>
            <a:r>
              <a:rPr lang="en-US" dirty="0"/>
              <a:t>Users enjoy solving problems in their own way.</a:t>
            </a:r>
          </a:p>
          <a:p>
            <a:r>
              <a:rPr lang="en-US" dirty="0"/>
              <a:t>Feedback helps guide and reinforce creative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99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9552-D6EE-592C-905B-CCF0489F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8: </a:t>
            </a:r>
            <a:r>
              <a:rPr lang="en-US" b="1" i="1" dirty="0"/>
              <a:t>Ownership &amp; Possession</a:t>
            </a:r>
            <a:r>
              <a:rPr lang="en-US" b="1" dirty="0"/>
              <a:t> (Core Drive 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0F8D-8320-1415-F00A-C49EEC512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care more about things they own or build.</a:t>
            </a:r>
          </a:p>
          <a:p>
            <a:r>
              <a:rPr lang="en-US" dirty="0"/>
              <a:t>Customization increases emotional connection.</a:t>
            </a:r>
          </a:p>
          <a:p>
            <a:r>
              <a:rPr lang="en-US" dirty="0"/>
              <a:t>Progress in building or collecting strengthens motivation.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56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4DCD-7E9B-F875-31CF-FA31C150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9: </a:t>
            </a:r>
            <a:r>
              <a:rPr lang="en-US" b="1" i="1" dirty="0"/>
              <a:t>Social Influence &amp; Relatedness</a:t>
            </a:r>
            <a:r>
              <a:rPr lang="en-US" b="1" dirty="0"/>
              <a:t> (Core Drive 5)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C647E-2A26-A91D-2920-D76E0DC1C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pressure and support affect our choices.</a:t>
            </a:r>
          </a:p>
          <a:p>
            <a:r>
              <a:rPr lang="en-US" dirty="0"/>
              <a:t>People are motivated by recognition and connection.</a:t>
            </a:r>
          </a:p>
          <a:p>
            <a:r>
              <a:rPr lang="en-US" dirty="0"/>
              <a:t>Relationships build trust and increase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38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216C-82C1-101D-700B-A52ECE29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Chapter 10</a:t>
            </a:r>
            <a:r>
              <a:rPr lang="en-IN" b="1" dirty="0"/>
              <a:t>: </a:t>
            </a:r>
            <a:r>
              <a:rPr lang="en-IN" b="1" i="1" dirty="0"/>
              <a:t>Scarcity &amp; Impatience</a:t>
            </a:r>
            <a:r>
              <a:rPr lang="en-IN" b="1" dirty="0"/>
              <a:t> (Core Drive 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3529E-E080-B225-C24F-5E8F303A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access increases desire.</a:t>
            </a:r>
          </a:p>
          <a:p>
            <a:r>
              <a:rPr lang="en-US" dirty="0"/>
              <a:t>Waiting creates value and anticipation.</a:t>
            </a:r>
          </a:p>
          <a:p>
            <a:r>
              <a:rPr lang="en-US" dirty="0"/>
              <a:t>People act faster when something may become unavailable.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53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C56-3268-5FBB-2332-95FDC78A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11: </a:t>
            </a:r>
            <a:r>
              <a:rPr lang="en-US" b="1" i="1" dirty="0"/>
              <a:t>Unpredictability &amp; Curiosity</a:t>
            </a:r>
            <a:r>
              <a:rPr lang="en-US" b="1" dirty="0"/>
              <a:t> (Core Drive 7)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69D8-B449-891B-142A-EFDE526B1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Uncertainty keeps users interested and engaged.</a:t>
            </a:r>
          </a:p>
          <a:p>
            <a:r>
              <a:rPr lang="en-US" dirty="0"/>
              <a:t>Curiosity drives exploration and repeat actions.</a:t>
            </a:r>
          </a:p>
          <a:p>
            <a:r>
              <a:rPr lang="en-US" dirty="0"/>
              <a:t>Random rewards can surprise and delight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220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DA1B-EC35-A5C3-BF5A-66191B88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12: </a:t>
            </a:r>
            <a:r>
              <a:rPr lang="en-US" b="1" i="1" dirty="0"/>
              <a:t>Loss &amp; Avoidance</a:t>
            </a:r>
            <a:r>
              <a:rPr lang="en-US" b="1" dirty="0"/>
              <a:t> (Core Drive 8)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0EBF-E519-1D1B-6EA4-B5652621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fear losing progress or benefits.</a:t>
            </a:r>
          </a:p>
          <a:p>
            <a:r>
              <a:rPr lang="en-US" dirty="0"/>
              <a:t>We often act to avoid pain or failure.</a:t>
            </a:r>
          </a:p>
          <a:p>
            <a:r>
              <a:rPr lang="en-US" dirty="0"/>
              <a:t>Avoidance can keep users consistent in their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767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137F-0315-46B4-B2D6-4E094964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13: </a:t>
            </a:r>
            <a:r>
              <a:rPr lang="en-US" b="1" i="1" dirty="0"/>
              <a:t>Left Brain vs Right Brain Core Drives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A0209-9C45-E8A8-4B8E-EF66174B7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brain drives are logical and result-based.</a:t>
            </a:r>
          </a:p>
          <a:p>
            <a:r>
              <a:rPr lang="en-US" dirty="0"/>
              <a:t>Right brain drives are emotional and creative.</a:t>
            </a:r>
          </a:p>
          <a:p>
            <a:r>
              <a:rPr lang="en-US" dirty="0"/>
              <a:t>A good design uses both for balance and impact.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74B30-7269-1208-E8A6-EEF7FF81D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24" y="3617892"/>
            <a:ext cx="3459973" cy="324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22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7709-EA6F-0351-C442-C2564A0C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14: </a:t>
            </a:r>
            <a:r>
              <a:rPr lang="en-US" b="1" i="1" dirty="0"/>
              <a:t>White Hat vs Black Hat Gamification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22A3F-09C4-FBA0-0824-70BFCA1A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White Hat drives feel good but lack urgency.</a:t>
            </a:r>
          </a:p>
          <a:p>
            <a:r>
              <a:rPr lang="en-US" dirty="0"/>
              <a:t>Black Hat drives create urgency but may feel controlling.</a:t>
            </a:r>
          </a:p>
          <a:p>
            <a:r>
              <a:rPr lang="en-US" dirty="0"/>
              <a:t>Effective design blends both types at the right time.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1A2ED-2FC2-00A9-2520-AE1091267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27" y="3656433"/>
            <a:ext cx="5492620" cy="308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0C51-EBF1-6250-2698-66882143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15: </a:t>
            </a:r>
            <a:r>
              <a:rPr lang="en-US" b="1" i="1" dirty="0"/>
              <a:t>Understanding Other Frameworks with Octalysis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A701-275A-3A72-4FE8-784FDAFA8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Octalysis builds on other gamification theories.</a:t>
            </a:r>
          </a:p>
          <a:p>
            <a:r>
              <a:rPr lang="en-US" dirty="0"/>
              <a:t>It includes motivation, psychology, and design.</a:t>
            </a:r>
          </a:p>
          <a:p>
            <a:r>
              <a:rPr lang="en-US" dirty="0"/>
              <a:t>It provides a clearer structure for real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2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116F-72FD-196F-619C-F9CF0CD8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3597"/>
            <a:ext cx="10515600" cy="1325563"/>
          </a:xfrm>
        </p:spPr>
        <p:txBody>
          <a:bodyPr/>
          <a:lstStyle/>
          <a:p>
            <a:r>
              <a:rPr lang="en-US" dirty="0"/>
              <a:t>Chapter 16: </a:t>
            </a:r>
            <a:r>
              <a:rPr lang="en-US" b="1" i="1" dirty="0"/>
              <a:t>Level 1 Octalysis in Action</a:t>
            </a:r>
            <a:endParaRPr lang="en-IN" b="1" i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BCB66D-0CD2-4BB7-680D-5BD228FCB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79029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 companies use Octalysis successfully.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 apps use different combinations of drives.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Reviewing examples helps understand practical use.</a:t>
            </a:r>
          </a:p>
        </p:txBody>
      </p:sp>
    </p:spTree>
    <p:extLst>
      <p:ext uri="{BB962C8B-B14F-4D97-AF65-F5344CB8AC3E}">
        <p14:creationId xmlns:p14="http://schemas.microsoft.com/office/powerpoint/2010/main" val="2839301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C694-4A6D-1A92-EC9C-C67EFB65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17: </a:t>
            </a:r>
            <a:r>
              <a:rPr lang="en-US" b="1" i="1" dirty="0"/>
              <a:t>Designing a Project from Scratch with Octalysis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0C25-1AB4-4DD4-4E06-64528976C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user motivation before adding game elements.</a:t>
            </a:r>
          </a:p>
          <a:p>
            <a:r>
              <a:rPr lang="en-US" dirty="0"/>
              <a:t>Apply different core drives across user journey stages.</a:t>
            </a:r>
          </a:p>
          <a:p>
            <a:r>
              <a:rPr lang="en-US" dirty="0"/>
              <a:t>Design should evolve through testing and feedback.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253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965C-9988-C3FE-873A-763D4E06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8678"/>
            <a:ext cx="10515600" cy="1325563"/>
          </a:xfrm>
        </p:spPr>
        <p:txBody>
          <a:bodyPr/>
          <a:lstStyle/>
          <a:p>
            <a:r>
              <a:rPr lang="en-US" dirty="0"/>
              <a:t>Chapter 18: </a:t>
            </a:r>
            <a:r>
              <a:rPr lang="en-US" b="1" i="1" dirty="0"/>
              <a:t>The Journey Goes 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5CDAF-54A2-75E1-CD6D-09CDAABC6A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836" y="1946528"/>
            <a:ext cx="856407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Gamification is a lifelong mindset.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Keep learning and applying it in new ways.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Make life more meaningful through motivational design.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E6FA5-500B-2794-53B0-B393BE189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257" y="3429000"/>
            <a:ext cx="6388359" cy="322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45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F387-C50D-0C51-7F41-E2433001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Thank You!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F2428-030B-C5A6-7F0D-198A676D1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Presented by:</a:t>
            </a:r>
          </a:p>
          <a:p>
            <a:pPr marL="0" indent="0" algn="ctr">
              <a:buNone/>
            </a:pPr>
            <a:r>
              <a:rPr lang="en-IN" dirty="0"/>
              <a:t>Veerendranadh Koppula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3D9D8-2049-4FAA-B225-28F056CBF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524" y="2995840"/>
            <a:ext cx="57150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0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683</Words>
  <Application>Microsoft Office PowerPoint</Application>
  <PresentationFormat>Widescreen</PresentationFormat>
  <Paragraphs>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“Actionable Gamification” </vt:lpstr>
      <vt:lpstr>"Turning boring tasks into fun, engaging experiences by using game techniques."</vt:lpstr>
      <vt:lpstr>"PBL is like sugar coating , it looks fun but doesn’t build lasting habits."</vt:lpstr>
      <vt:lpstr>Chapter 1: When the Surreal Blends into our World</vt:lpstr>
      <vt:lpstr>   Chapter 2: The PBL Fallacy</vt:lpstr>
      <vt:lpstr>Chapter 3: The Octalysis Framework</vt:lpstr>
      <vt:lpstr>Chapter 4: Putting Gamification in its Place</vt:lpstr>
      <vt:lpstr>Chapter 5: Epic Meaning &amp; Calling (Core Drive 1)</vt:lpstr>
      <vt:lpstr>Chapter 6: Development &amp; Accomplishment (Core Drive 2)</vt:lpstr>
      <vt:lpstr>Chapter 7: Empowerment of Creativity &amp; Feedback (Core Drive 3) </vt:lpstr>
      <vt:lpstr>Chapter 8: Ownership &amp; Possession (Core Drive 4)</vt:lpstr>
      <vt:lpstr>Chapter 9: Social Influence &amp; Relatedness (Core Drive 5)</vt:lpstr>
      <vt:lpstr>Chapter 10: Scarcity &amp; Impatience (Core Drive 6)</vt:lpstr>
      <vt:lpstr>Chapter 11: Unpredictability &amp; Curiosity (Core Drive 7)</vt:lpstr>
      <vt:lpstr>Chapter 12: Loss &amp; Avoidance (Core Drive 8)</vt:lpstr>
      <vt:lpstr>Chapter 13: Left Brain vs Right Brain Core Drives</vt:lpstr>
      <vt:lpstr>Chapter 14: White Hat vs Black Hat Gamification</vt:lpstr>
      <vt:lpstr>Chapter 15: Understanding Other Frameworks with Octalysis </vt:lpstr>
      <vt:lpstr>Chapter 16: Level 1 Octalysis in Action</vt:lpstr>
      <vt:lpstr>Chapter 17: Designing a Project from Scratch with Octalysis</vt:lpstr>
      <vt:lpstr>Chapter 18: The Journey Goes 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Veerendranadh Koppula</dc:creator>
  <cp:lastModifiedBy>Veerendranadh Koppula</cp:lastModifiedBy>
  <cp:revision>5</cp:revision>
  <dcterms:created xsi:type="dcterms:W3CDTF">2025-07-14T11:23:18Z</dcterms:created>
  <dcterms:modified xsi:type="dcterms:W3CDTF">2025-07-19T10:42:38Z</dcterms:modified>
</cp:coreProperties>
</file>